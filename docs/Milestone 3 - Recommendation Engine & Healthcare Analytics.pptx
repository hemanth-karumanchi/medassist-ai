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20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1324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 autoAdjust="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317" y="77"/>
      </p:cViewPr>
      <p:guideLst>
        <p:guide orient="horz" pos="18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FEBF0A-0BAA-41D6-9782-DFD8FADD8516}"/>
              </a:ext>
            </a:extLst>
          </p:cNvPr>
          <p:cNvSpPr txBox="1"/>
          <p:nvPr/>
        </p:nvSpPr>
        <p:spPr>
          <a:xfrm>
            <a:off x="2764276" y="4873954"/>
            <a:ext cx="6663446" cy="80637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lang="en-IN" sz="2500" b="1" i="0" u="sng" dirty="0">
                <a:solidFill>
                  <a:srgbClr val="F5F8FC"/>
                </a:solidFill>
                <a:latin typeface="Aptos"/>
              </a:rPr>
              <a:t>Milestone 3</a:t>
            </a:r>
          </a:p>
          <a:p>
            <a:pPr algn="ctr"/>
            <a:r>
              <a:rPr sz="2500" i="0" dirty="0">
                <a:solidFill>
                  <a:srgbClr val="F5F8FC"/>
                </a:solidFill>
                <a:latin typeface="Aptos"/>
              </a:rPr>
              <a:t>Recommendation Engine</a:t>
            </a:r>
            <a:r>
              <a:rPr lang="en-IN" sz="2500" i="0" dirty="0">
                <a:solidFill>
                  <a:srgbClr val="F5F8FC"/>
                </a:solidFill>
                <a:latin typeface="Aptos"/>
              </a:rPr>
              <a:t> </a:t>
            </a:r>
            <a:r>
              <a:rPr sz="2500" i="0" dirty="0">
                <a:solidFill>
                  <a:srgbClr val="F5F8FC"/>
                </a:solidFill>
                <a:latin typeface="Aptos"/>
              </a:rPr>
              <a:t>&amp; Healthcare Analytics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097D29-7F2A-4C59-A5A9-A5D2CFC087DE}"/>
              </a:ext>
            </a:extLst>
          </p:cNvPr>
          <p:cNvSpPr txBox="1"/>
          <p:nvPr/>
        </p:nvSpPr>
        <p:spPr>
          <a:xfrm>
            <a:off x="2403322" y="1442224"/>
            <a:ext cx="7385355" cy="142192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lang="en-US" sz="4000" b="1" spc="-114" dirty="0" err="1">
                <a:solidFill>
                  <a:schemeClr val="bg2"/>
                </a:solidFill>
              </a:rPr>
              <a:t>MedAssist</a:t>
            </a:r>
            <a:r>
              <a:rPr lang="en-US" sz="4000" b="1" spc="-114" dirty="0">
                <a:solidFill>
                  <a:schemeClr val="bg2"/>
                </a:solidFill>
              </a:rPr>
              <a:t> </a:t>
            </a:r>
            <a:r>
              <a:rPr lang="en-US" sz="4000" b="1" spc="-795" dirty="0">
                <a:solidFill>
                  <a:schemeClr val="bg2"/>
                </a:solidFill>
              </a:rPr>
              <a:t>  </a:t>
            </a:r>
            <a:r>
              <a:rPr lang="en-US" sz="4000" b="1" spc="-395" dirty="0">
                <a:solidFill>
                  <a:schemeClr val="bg2"/>
                </a:solidFill>
              </a:rPr>
              <a:t>AI</a:t>
            </a:r>
            <a:br>
              <a:rPr lang="en-US" sz="3500" b="1" spc="-395" dirty="0">
                <a:solidFill>
                  <a:schemeClr val="bg2"/>
                </a:solidFill>
              </a:rPr>
            </a:br>
            <a:r>
              <a:rPr lang="en-US" sz="5000" b="1" dirty="0">
                <a:solidFill>
                  <a:schemeClr val="bg2"/>
                </a:solidFill>
              </a:rPr>
              <a:t>🏥</a:t>
            </a:r>
            <a:r>
              <a:rPr lang="en-US" sz="2800" b="1" dirty="0">
                <a:solidFill>
                  <a:schemeClr val="bg2"/>
                </a:solidFill>
              </a:rPr>
              <a:t>AI-Powered Healthcare Assistance Platform</a:t>
            </a:r>
            <a:endParaRPr sz="2800" b="1" i="0" dirty="0">
              <a:solidFill>
                <a:srgbClr val="F5F8FC"/>
              </a:solidFill>
              <a:latin typeface="Aptos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2FD8FB9E-F903-4A09-8F21-C7421981C798}"/>
              </a:ext>
            </a:extLst>
          </p:cNvPr>
          <p:cNvSpPr txBox="1"/>
          <p:nvPr/>
        </p:nvSpPr>
        <p:spPr>
          <a:xfrm>
            <a:off x="1417179" y="2989528"/>
            <a:ext cx="11536638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dirty="0">
                <a:solidFill>
                  <a:schemeClr val="bg2"/>
                </a:solidFill>
                <a:latin typeface="Arial MT"/>
                <a:cs typeface="Arial MT"/>
              </a:rPr>
              <a:t>Recommendation Engine &amp; Analytics Dashboard </a:t>
            </a:r>
            <a:r>
              <a:rPr sz="2000" dirty="0">
                <a:solidFill>
                  <a:schemeClr val="bg2"/>
                </a:solidFill>
                <a:latin typeface="Arial MT"/>
                <a:cs typeface="Arial MT"/>
              </a:rPr>
              <a:t>—</a:t>
            </a:r>
            <a:r>
              <a:rPr sz="2000" spc="-25" dirty="0">
                <a:solidFill>
                  <a:schemeClr val="bg2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chemeClr val="bg2"/>
                </a:solidFill>
                <a:latin typeface="Arial MT"/>
                <a:cs typeface="Arial MT"/>
              </a:rPr>
              <a:t>review</a:t>
            </a:r>
            <a:r>
              <a:rPr sz="2000" spc="-25" dirty="0">
                <a:solidFill>
                  <a:schemeClr val="bg2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chemeClr val="bg2"/>
                </a:solidFill>
                <a:latin typeface="Arial MT"/>
                <a:cs typeface="Arial MT"/>
              </a:rPr>
              <a:t>for</a:t>
            </a:r>
            <a:r>
              <a:rPr sz="2000" spc="-25" dirty="0">
                <a:solidFill>
                  <a:schemeClr val="bg2"/>
                </a:solidFill>
                <a:latin typeface="Arial MT"/>
                <a:cs typeface="Arial MT"/>
              </a:rPr>
              <a:t> </a:t>
            </a:r>
            <a:r>
              <a:rPr sz="2000" spc="65" dirty="0">
                <a:solidFill>
                  <a:schemeClr val="bg2"/>
                </a:solidFill>
                <a:latin typeface="Arial MT"/>
                <a:cs typeface="Arial MT"/>
              </a:rPr>
              <a:t>academic</a:t>
            </a:r>
            <a:r>
              <a:rPr sz="2000" spc="-25" dirty="0">
                <a:solidFill>
                  <a:schemeClr val="bg2"/>
                </a:solidFill>
                <a:latin typeface="Arial MT"/>
                <a:cs typeface="Arial MT"/>
              </a:rPr>
              <a:t> </a:t>
            </a:r>
            <a:r>
              <a:rPr sz="2000" spc="70" dirty="0">
                <a:solidFill>
                  <a:schemeClr val="bg2"/>
                </a:solidFill>
                <a:latin typeface="Arial MT"/>
                <a:cs typeface="Arial MT"/>
              </a:rPr>
              <a:t>mentor</a:t>
            </a:r>
            <a:endParaRPr sz="2000" dirty="0">
              <a:solidFill>
                <a:schemeClr val="bg2"/>
              </a:solidFill>
              <a:latin typeface="Arial MT"/>
              <a:cs typeface="Arial MT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9B14F41C-8B6E-452D-9036-810B8B9119D0}"/>
              </a:ext>
            </a:extLst>
          </p:cNvPr>
          <p:cNvSpPr txBox="1"/>
          <p:nvPr/>
        </p:nvSpPr>
        <p:spPr>
          <a:xfrm>
            <a:off x="132295" y="6407001"/>
            <a:ext cx="2992867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sz="1200" b="1" spc="-10" dirty="0" err="1">
                <a:solidFill>
                  <a:srgbClr val="FFC000"/>
                </a:solidFill>
                <a:latin typeface="Arial MT"/>
                <a:cs typeface="Arial MT"/>
              </a:rPr>
              <a:t>Karumanc</a:t>
            </a:r>
            <a:r>
              <a:rPr lang="en-IN" sz="1200" b="1" spc="-10" dirty="0">
                <a:solidFill>
                  <a:srgbClr val="FFC000"/>
                </a:solidFill>
                <a:latin typeface="Arial MT"/>
                <a:cs typeface="Arial MT"/>
              </a:rPr>
              <a:t>hi </a:t>
            </a:r>
            <a:r>
              <a:rPr lang="en-IN" sz="1200" b="1" dirty="0">
                <a:solidFill>
                  <a:srgbClr val="FFC000"/>
                </a:solidFill>
                <a:latin typeface="Arial MT"/>
                <a:cs typeface="Arial MT"/>
              </a:rPr>
              <a:t>Hemanth 	</a:t>
            </a:r>
            <a:r>
              <a:rPr lang="en-IN" sz="1200" b="1" spc="-10" dirty="0">
                <a:solidFill>
                  <a:srgbClr val="FFC000"/>
                </a:solidFill>
                <a:latin typeface="Arial MT"/>
                <a:cs typeface="Arial MT"/>
              </a:rPr>
              <a:t>8/27/2026</a:t>
            </a:r>
            <a:endParaRPr lang="en-IN" sz="1200" b="1" dirty="0">
              <a:solidFill>
                <a:srgbClr val="FFC000"/>
              </a:solidFill>
              <a:latin typeface="Arial MT"/>
              <a:cs typeface="Arial MT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2C7AD89A-845F-45E7-9875-D9E038EFDB00}"/>
              </a:ext>
            </a:extLst>
          </p:cNvPr>
          <p:cNvSpPr txBox="1"/>
          <p:nvPr/>
        </p:nvSpPr>
        <p:spPr>
          <a:xfrm>
            <a:off x="8195651" y="6345446"/>
            <a:ext cx="4134266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b="1" dirty="0">
                <a:solidFill>
                  <a:srgbClr val="FFC000"/>
                </a:solidFill>
                <a:latin typeface="Arial MT"/>
                <a:cs typeface="Arial MT"/>
              </a:rPr>
              <a:t>Infosys Springboard Internship</a:t>
            </a:r>
            <a:endParaRPr sz="2000" b="1" dirty="0">
              <a:solidFill>
                <a:srgbClr val="FFC000"/>
              </a:solidFill>
              <a:latin typeface="Arial MT"/>
              <a:cs typeface="Arial M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FCA1B0-EB44-4363-A881-8C2891863B32}"/>
              </a:ext>
            </a:extLst>
          </p:cNvPr>
          <p:cNvSpPr txBox="1"/>
          <p:nvPr/>
        </p:nvSpPr>
        <p:spPr>
          <a:xfrm>
            <a:off x="5673960" y="150404"/>
            <a:ext cx="844077" cy="20621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100" i="0" dirty="0">
                <a:solidFill>
                  <a:srgbClr val="FF9948"/>
                </a:solidFill>
                <a:latin typeface="Aptos"/>
              </a:rPr>
              <a:t>MILESTONE 3</a:t>
            </a:r>
          </a:p>
        </p:txBody>
      </p:sp>
    </p:spTree>
    <p:extLst>
      <p:ext uri="{BB962C8B-B14F-4D97-AF65-F5344CB8AC3E}">
        <p14:creationId xmlns:p14="http://schemas.microsoft.com/office/powerpoint/2010/main" val="372842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94662" y="18579"/>
            <a:ext cx="5497338" cy="6833633"/>
          </a:xfrm>
          <a:prstGeom prst="rect">
            <a:avLst/>
          </a:prstGeom>
          <a:solidFill>
            <a:srgbClr val="121F36"/>
          </a:solidFill>
          <a:ln w="10160">
            <a:solidFill>
              <a:srgbClr val="12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81174" y="151854"/>
            <a:ext cx="829651" cy="20621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100" i="0" dirty="0">
                <a:solidFill>
                  <a:srgbClr val="FF9948"/>
                </a:solidFill>
                <a:latin typeface="Aptos"/>
              </a:rPr>
              <a:t>MILESTONE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713232"/>
            <a:ext cx="1119922" cy="23698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300" b="1" i="0" dirty="0">
                <a:solidFill>
                  <a:srgbClr val="36D2BE"/>
                </a:solidFill>
                <a:latin typeface="Aptos"/>
              </a:rPr>
              <a:t>Patient journey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41617" y="1261872"/>
            <a:ext cx="2697480" cy="502920"/>
          </a:xfrm>
          <a:prstGeom prst="roundRect">
            <a:avLst/>
          </a:prstGeom>
          <a:solidFill>
            <a:srgbClr val="1B2D49"/>
          </a:solidFill>
          <a:ln w="10160">
            <a:solidFill>
              <a:srgbClr val="38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24497" y="1380743"/>
            <a:ext cx="32004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000" b="1" i="0">
                <a:solidFill>
                  <a:srgbClr val="36D2BE"/>
                </a:solidFill>
                <a:latin typeface="Apto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18273" y="1380743"/>
            <a:ext cx="178308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1" i="0" dirty="0">
                <a:solidFill>
                  <a:srgbClr val="F5F8FC"/>
                </a:solidFill>
                <a:latin typeface="Aptos"/>
              </a:rPr>
              <a:t>Symptoms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285785" y="1764792"/>
            <a:ext cx="0" cy="228599"/>
          </a:xfrm>
          <a:prstGeom prst="line">
            <a:avLst/>
          </a:prstGeom>
          <a:ln w="15240">
            <a:solidFill>
              <a:srgbClr val="384C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941617" y="1993391"/>
            <a:ext cx="2697480" cy="502920"/>
          </a:xfrm>
          <a:prstGeom prst="roundRect">
            <a:avLst/>
          </a:prstGeom>
          <a:solidFill>
            <a:srgbClr val="1B2D49"/>
          </a:solidFill>
          <a:ln w="10160">
            <a:solidFill>
              <a:srgbClr val="38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24497" y="2112263"/>
            <a:ext cx="32004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000" b="1" i="0">
                <a:solidFill>
                  <a:srgbClr val="FF9948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8273" y="2112263"/>
            <a:ext cx="178308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1" i="0" dirty="0">
                <a:solidFill>
                  <a:srgbClr val="F5F8FC"/>
                </a:solidFill>
                <a:latin typeface="Aptos"/>
              </a:rPr>
              <a:t>Prediction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85785" y="2496311"/>
            <a:ext cx="0" cy="228600"/>
          </a:xfrm>
          <a:prstGeom prst="line">
            <a:avLst/>
          </a:prstGeom>
          <a:ln w="15240">
            <a:solidFill>
              <a:srgbClr val="384C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941617" y="2724912"/>
            <a:ext cx="2697480" cy="502920"/>
          </a:xfrm>
          <a:prstGeom prst="roundRect">
            <a:avLst/>
          </a:prstGeom>
          <a:solidFill>
            <a:srgbClr val="1B2D49"/>
          </a:solidFill>
          <a:ln w="10160">
            <a:solidFill>
              <a:srgbClr val="38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24497" y="2843784"/>
            <a:ext cx="32004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000" b="1" i="0">
                <a:solidFill>
                  <a:srgbClr val="6ADE9D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18273" y="2843784"/>
            <a:ext cx="178308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Risk assessment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285785" y="3227832"/>
            <a:ext cx="0" cy="228600"/>
          </a:xfrm>
          <a:prstGeom prst="line">
            <a:avLst/>
          </a:prstGeom>
          <a:ln w="15240">
            <a:solidFill>
              <a:srgbClr val="384C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941617" y="3456432"/>
            <a:ext cx="2697480" cy="502920"/>
          </a:xfrm>
          <a:prstGeom prst="roundRect">
            <a:avLst/>
          </a:prstGeom>
          <a:solidFill>
            <a:srgbClr val="1B2D49"/>
          </a:solidFill>
          <a:ln w="10160">
            <a:solidFill>
              <a:srgbClr val="38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4497" y="3575304"/>
            <a:ext cx="32004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000" b="1" i="0">
                <a:solidFill>
                  <a:srgbClr val="36D2BE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18273" y="3575304"/>
            <a:ext cx="178308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Recommendations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285785" y="3959352"/>
            <a:ext cx="0" cy="228600"/>
          </a:xfrm>
          <a:prstGeom prst="line">
            <a:avLst/>
          </a:prstGeom>
          <a:ln w="15240">
            <a:solidFill>
              <a:srgbClr val="384C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941617" y="4187952"/>
            <a:ext cx="2697480" cy="502920"/>
          </a:xfrm>
          <a:prstGeom prst="roundRect">
            <a:avLst/>
          </a:prstGeom>
          <a:solidFill>
            <a:srgbClr val="1B2D49"/>
          </a:solidFill>
          <a:ln w="10160">
            <a:solidFill>
              <a:srgbClr val="38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24497" y="4306824"/>
            <a:ext cx="32004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000" b="1" i="0">
                <a:solidFill>
                  <a:srgbClr val="FF9948"/>
                </a:solidFill>
                <a:latin typeface="Apto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18273" y="4306824"/>
            <a:ext cx="1251946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lang="en-IN" sz="1200" b="1" i="0" dirty="0">
                <a:solidFill>
                  <a:srgbClr val="F5F8FC"/>
                </a:solidFill>
                <a:latin typeface="Aptos"/>
              </a:rPr>
              <a:t>Advisory Guidance</a:t>
            </a:r>
            <a:endParaRPr sz="1200" b="1" i="0" dirty="0">
              <a:solidFill>
                <a:srgbClr val="F5F8FC"/>
              </a:solidFill>
              <a:latin typeface="Aptos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9285785" y="4690872"/>
            <a:ext cx="0" cy="228600"/>
          </a:xfrm>
          <a:prstGeom prst="line">
            <a:avLst/>
          </a:prstGeom>
          <a:ln w="15240">
            <a:solidFill>
              <a:srgbClr val="384C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941617" y="4919472"/>
            <a:ext cx="2697480" cy="502920"/>
          </a:xfrm>
          <a:prstGeom prst="roundRect">
            <a:avLst/>
          </a:prstGeom>
          <a:solidFill>
            <a:srgbClr val="1B2D49"/>
          </a:solidFill>
          <a:ln w="10160">
            <a:solidFill>
              <a:srgbClr val="38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24497" y="5038344"/>
            <a:ext cx="32004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000" b="1" i="0" dirty="0">
                <a:solidFill>
                  <a:srgbClr val="6ADE9D"/>
                </a:solidFill>
                <a:latin typeface="Aptos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18273" y="5038344"/>
            <a:ext cx="1181542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lang="en-IN" sz="1200" b="1" i="0" dirty="0">
                <a:solidFill>
                  <a:srgbClr val="F5F8FC"/>
                </a:solidFill>
                <a:latin typeface="Aptos"/>
              </a:rPr>
              <a:t>Prediction Report</a:t>
            </a:r>
            <a:endParaRPr sz="1200" b="1" i="0" dirty="0">
              <a:solidFill>
                <a:srgbClr val="F5F8FC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143654" y="5823655"/>
            <a:ext cx="3108480" cy="26776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500" b="0" i="1" dirty="0">
                <a:solidFill>
                  <a:srgbClr val="36D2BE"/>
                </a:solidFill>
                <a:latin typeface="Aptos"/>
              </a:rPr>
              <a:t>From AI output to patient-ready insight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473952"/>
            <a:ext cx="393192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00" b="1" i="0">
                <a:solidFill>
                  <a:srgbClr val="A3B4C9"/>
                </a:solidFill>
                <a:latin typeface="Aptos"/>
              </a:rPr>
              <a:t>MEDASSIST AI  |  INTERNSHIP REVIEW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900" b="1" i="0" dirty="0">
                <a:solidFill>
                  <a:srgbClr val="36D2BE"/>
                </a:solidFill>
                <a:latin typeface="Aptos"/>
              </a:rPr>
              <a:t>01</a:t>
            </a:r>
          </a:p>
        </p:txBody>
      </p:sp>
      <p:sp>
        <p:nvSpPr>
          <p:cNvPr id="39" name="object 14">
            <a:extLst>
              <a:ext uri="{FF2B5EF4-FFF2-40B4-BE49-F238E27FC236}">
                <a16:creationId xmlns:a16="http://schemas.microsoft.com/office/drawing/2014/main" id="{C7A75FFF-4B7E-4F7C-A101-ED73C4997AF7}"/>
              </a:ext>
            </a:extLst>
          </p:cNvPr>
          <p:cNvSpPr txBox="1"/>
          <p:nvPr/>
        </p:nvSpPr>
        <p:spPr>
          <a:xfrm>
            <a:off x="739471" y="1784883"/>
            <a:ext cx="5916982" cy="222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bg1"/>
                </a:solidFill>
              </a:rPr>
              <a:t>01 — </a:t>
            </a:r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Healthcare Recommendation Engine 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b="1" dirty="0">
                <a:solidFill>
                  <a:schemeClr val="bg1"/>
                </a:solidFill>
              </a:rPr>
              <a:t>02 — </a:t>
            </a:r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Treatment &amp; Preventive Suggestions </a:t>
            </a:r>
            <a:endParaRPr lang="en-US" sz="1600" dirty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b="1" dirty="0">
                <a:solidFill>
                  <a:schemeClr val="bg1"/>
                </a:solidFill>
              </a:rPr>
              <a:t>03 — </a:t>
            </a:r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Risk-Based Healthcare Advisory 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b="1" dirty="0">
                <a:solidFill>
                  <a:schemeClr val="bg1"/>
                </a:solidFill>
              </a:rPr>
              <a:t>04 — </a:t>
            </a:r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Disease Prediction Reports 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US" sz="1600" b="1" dirty="0">
                <a:solidFill>
                  <a:schemeClr val="bg1"/>
                </a:solidFill>
              </a:rPr>
              <a:t>05 — </a:t>
            </a:r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Healthcare Analytics Dashboard </a:t>
            </a:r>
          </a:p>
        </p:txBody>
      </p:sp>
      <p:sp>
        <p:nvSpPr>
          <p:cNvPr id="40" name="object 8" descr="$PPTXTitle">
            <a:extLst>
              <a:ext uri="{FF2B5EF4-FFF2-40B4-BE49-F238E27FC236}">
                <a16:creationId xmlns:a16="http://schemas.microsoft.com/office/drawing/2014/main" id="{8E72CE45-D781-4DCC-BD7D-A0CB41DDF499}"/>
              </a:ext>
            </a:extLst>
          </p:cNvPr>
          <p:cNvSpPr txBox="1">
            <a:spLocks/>
          </p:cNvSpPr>
          <p:nvPr/>
        </p:nvSpPr>
        <p:spPr>
          <a:xfrm>
            <a:off x="260928" y="546713"/>
            <a:ext cx="4964543" cy="553334"/>
          </a:xfrm>
          <a:prstGeom prst="rect">
            <a:avLst/>
          </a:prstGeom>
        </p:spPr>
        <p:txBody>
          <a:bodyPr vert="horz" wrap="square" lIns="0" tIns="90783" rIns="0" bIns="0" rtlCol="0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z="3000" b="1" spc="-95" dirty="0">
                <a:solidFill>
                  <a:schemeClr val="bg1"/>
                </a:solidFill>
              </a:rPr>
              <a:t>Milestone</a:t>
            </a:r>
            <a:r>
              <a:rPr lang="en-IN" sz="3000" b="1" spc="-455" dirty="0">
                <a:solidFill>
                  <a:schemeClr val="bg1"/>
                </a:solidFill>
              </a:rPr>
              <a:t> </a:t>
            </a:r>
            <a:r>
              <a:rPr lang="en-IN" sz="3000" b="1" spc="265" dirty="0">
                <a:solidFill>
                  <a:schemeClr val="bg1"/>
                </a:solidFill>
              </a:rPr>
              <a:t>3</a:t>
            </a:r>
            <a:r>
              <a:rPr lang="en-IN" sz="3000" b="1" spc="-450" dirty="0">
                <a:solidFill>
                  <a:schemeClr val="bg1"/>
                </a:solidFill>
              </a:rPr>
              <a:t> </a:t>
            </a:r>
            <a:r>
              <a:rPr lang="en-IN" sz="3000" b="1" spc="-125" dirty="0">
                <a:solidFill>
                  <a:schemeClr val="bg1"/>
                </a:solidFill>
              </a:rPr>
              <a:t>Deliverables</a:t>
            </a:r>
            <a:endParaRPr lang="en-IN" sz="3000" b="1" spc="-75" dirty="0">
              <a:solidFill>
                <a:schemeClr val="bg1"/>
              </a:solidFill>
            </a:endParaRPr>
          </a:p>
        </p:txBody>
      </p:sp>
      <p:grpSp>
        <p:nvGrpSpPr>
          <p:cNvPr id="41" name="object 9">
            <a:extLst>
              <a:ext uri="{FF2B5EF4-FFF2-40B4-BE49-F238E27FC236}">
                <a16:creationId xmlns:a16="http://schemas.microsoft.com/office/drawing/2014/main" id="{9EFD5045-EB17-44B8-9725-1C4BDB3E866D}"/>
              </a:ext>
            </a:extLst>
          </p:cNvPr>
          <p:cNvGrpSpPr/>
          <p:nvPr/>
        </p:nvGrpSpPr>
        <p:grpSpPr>
          <a:xfrm>
            <a:off x="332232" y="661297"/>
            <a:ext cx="519144" cy="378190"/>
            <a:chOff x="989581" y="1692471"/>
            <a:chExt cx="845819" cy="845819"/>
          </a:xfrm>
          <a:solidFill>
            <a:schemeClr val="accent6">
              <a:lumMod val="75000"/>
            </a:schemeClr>
          </a:solidFill>
        </p:grpSpPr>
        <p:sp>
          <p:nvSpPr>
            <p:cNvPr id="42" name="object 10">
              <a:extLst>
                <a:ext uri="{FF2B5EF4-FFF2-40B4-BE49-F238E27FC236}">
                  <a16:creationId xmlns:a16="http://schemas.microsoft.com/office/drawing/2014/main" id="{C25E5C72-B425-4C49-B79F-9C99C2FAFFFB}"/>
                </a:ext>
              </a:extLst>
            </p:cNvPr>
            <p:cNvSpPr/>
            <p:nvPr/>
          </p:nvSpPr>
          <p:spPr>
            <a:xfrm>
              <a:off x="989582" y="1692471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11">
              <a:extLst>
                <a:ext uri="{FF2B5EF4-FFF2-40B4-BE49-F238E27FC236}">
                  <a16:creationId xmlns:a16="http://schemas.microsoft.com/office/drawing/2014/main" id="{EAD0A584-72CA-4FD0-9653-3928A00B008B}"/>
                </a:ext>
              </a:extLst>
            </p:cNvPr>
            <p:cNvSpPr/>
            <p:nvPr/>
          </p:nvSpPr>
          <p:spPr>
            <a:xfrm>
              <a:off x="1287823" y="1692474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12">
              <a:extLst>
                <a:ext uri="{FF2B5EF4-FFF2-40B4-BE49-F238E27FC236}">
                  <a16:creationId xmlns:a16="http://schemas.microsoft.com/office/drawing/2014/main" id="{AB90A1C7-F80B-43D9-BD50-26E173C92F3F}"/>
                </a:ext>
              </a:extLst>
            </p:cNvPr>
            <p:cNvSpPr/>
            <p:nvPr/>
          </p:nvSpPr>
          <p:spPr>
            <a:xfrm>
              <a:off x="989571" y="1843176"/>
              <a:ext cx="845819" cy="695325"/>
            </a:xfrm>
            <a:custGeom>
              <a:avLst/>
              <a:gdLst/>
              <a:ahLst/>
              <a:cxnLst/>
              <a:rect l="l" t="t" r="r" b="b"/>
              <a:pathLst>
                <a:path w="845819" h="695325">
                  <a:moveTo>
                    <a:pt x="845553" y="518782"/>
                  </a:moveTo>
                  <a:lnTo>
                    <a:pt x="839546" y="473151"/>
                  </a:lnTo>
                  <a:lnTo>
                    <a:pt x="821931" y="430618"/>
                  </a:lnTo>
                  <a:lnTo>
                    <a:pt x="793902" y="394106"/>
                  </a:lnTo>
                  <a:lnTo>
                    <a:pt x="399796" y="0"/>
                  </a:lnTo>
                  <a:lnTo>
                    <a:pt x="150710" y="249085"/>
                  </a:lnTo>
                  <a:lnTo>
                    <a:pt x="173685" y="272072"/>
                  </a:lnTo>
                  <a:lnTo>
                    <a:pt x="51650" y="394106"/>
                  </a:lnTo>
                  <a:lnTo>
                    <a:pt x="23622" y="430618"/>
                  </a:lnTo>
                  <a:lnTo>
                    <a:pt x="6007" y="473151"/>
                  </a:lnTo>
                  <a:lnTo>
                    <a:pt x="0" y="518782"/>
                  </a:lnTo>
                  <a:lnTo>
                    <a:pt x="381" y="530326"/>
                  </a:lnTo>
                  <a:lnTo>
                    <a:pt x="9359" y="575475"/>
                  </a:lnTo>
                  <a:lnTo>
                    <a:pt x="29718" y="616750"/>
                  </a:lnTo>
                  <a:lnTo>
                    <a:pt x="59855" y="651141"/>
                  </a:lnTo>
                  <a:lnTo>
                    <a:pt x="98082" y="676656"/>
                  </a:lnTo>
                  <a:lnTo>
                    <a:pt x="141668" y="691451"/>
                  </a:lnTo>
                  <a:lnTo>
                    <a:pt x="176060" y="694842"/>
                  </a:lnTo>
                  <a:lnTo>
                    <a:pt x="187604" y="694461"/>
                  </a:lnTo>
                  <a:lnTo>
                    <a:pt x="232740" y="685482"/>
                  </a:lnTo>
                  <a:lnTo>
                    <a:pt x="274027" y="665124"/>
                  </a:lnTo>
                  <a:lnTo>
                    <a:pt x="422770" y="521157"/>
                  </a:lnTo>
                  <a:lnTo>
                    <a:pt x="544817" y="643191"/>
                  </a:lnTo>
                  <a:lnTo>
                    <a:pt x="581329" y="671220"/>
                  </a:lnTo>
                  <a:lnTo>
                    <a:pt x="623862" y="688835"/>
                  </a:lnTo>
                  <a:lnTo>
                    <a:pt x="669493" y="694842"/>
                  </a:lnTo>
                  <a:lnTo>
                    <a:pt x="681037" y="694474"/>
                  </a:lnTo>
                  <a:lnTo>
                    <a:pt x="726186" y="685482"/>
                  </a:lnTo>
                  <a:lnTo>
                    <a:pt x="767461" y="665124"/>
                  </a:lnTo>
                  <a:lnTo>
                    <a:pt x="801852" y="634987"/>
                  </a:lnTo>
                  <a:lnTo>
                    <a:pt x="827366" y="596773"/>
                  </a:lnTo>
                  <a:lnTo>
                    <a:pt x="842162" y="553186"/>
                  </a:lnTo>
                  <a:lnTo>
                    <a:pt x="845172" y="530326"/>
                  </a:lnTo>
                  <a:lnTo>
                    <a:pt x="845553" y="518782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Rounded Rectangle 32">
            <a:extLst>
              <a:ext uri="{FF2B5EF4-FFF2-40B4-BE49-F238E27FC236}">
                <a16:creationId xmlns:a16="http://schemas.microsoft.com/office/drawing/2014/main" id="{956B97FD-D6FF-47E3-A007-3FAC371E0B56}"/>
              </a:ext>
            </a:extLst>
          </p:cNvPr>
          <p:cNvSpPr/>
          <p:nvPr/>
        </p:nvSpPr>
        <p:spPr>
          <a:xfrm>
            <a:off x="7937045" y="5705856"/>
            <a:ext cx="2697480" cy="502920"/>
          </a:xfrm>
          <a:prstGeom prst="roundRect">
            <a:avLst/>
          </a:prstGeom>
          <a:solidFill>
            <a:srgbClr val="1B2D49"/>
          </a:solidFill>
          <a:ln w="10160">
            <a:solidFill>
              <a:srgbClr val="38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7" name="Connector 31">
            <a:extLst>
              <a:ext uri="{FF2B5EF4-FFF2-40B4-BE49-F238E27FC236}">
                <a16:creationId xmlns:a16="http://schemas.microsoft.com/office/drawing/2014/main" id="{25AE6FF5-614C-4ECA-AE53-4066A188530A}"/>
              </a:ext>
            </a:extLst>
          </p:cNvPr>
          <p:cNvCxnSpPr/>
          <p:nvPr/>
        </p:nvCxnSpPr>
        <p:spPr>
          <a:xfrm>
            <a:off x="9305076" y="5477256"/>
            <a:ext cx="0" cy="228600"/>
          </a:xfrm>
          <a:prstGeom prst="line">
            <a:avLst/>
          </a:prstGeom>
          <a:ln w="15240">
            <a:solidFill>
              <a:srgbClr val="384C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573C3630-4C46-4923-BC72-C22FAB77E4E4}"/>
              </a:ext>
            </a:extLst>
          </p:cNvPr>
          <p:cNvSpPr txBox="1"/>
          <p:nvPr/>
        </p:nvSpPr>
        <p:spPr>
          <a:xfrm>
            <a:off x="8618273" y="5823655"/>
            <a:ext cx="1363194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lang="en-IN" sz="1200" b="1" i="0" dirty="0">
                <a:solidFill>
                  <a:srgbClr val="F5F8FC"/>
                </a:solidFill>
                <a:latin typeface="Aptos"/>
              </a:rPr>
              <a:t>Healthcare Analytics</a:t>
            </a:r>
            <a:endParaRPr sz="1200" b="1" i="0" dirty="0">
              <a:solidFill>
                <a:srgbClr val="F5F8FC"/>
              </a:solidFill>
              <a:latin typeface="Apto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D8C24A6-8733-4AFC-ADBD-C4B8ED91149B}"/>
              </a:ext>
            </a:extLst>
          </p:cNvPr>
          <p:cNvSpPr txBox="1"/>
          <p:nvPr/>
        </p:nvSpPr>
        <p:spPr>
          <a:xfrm>
            <a:off x="8124497" y="5823655"/>
            <a:ext cx="186846" cy="190821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000" b="1" i="0" dirty="0">
                <a:solidFill>
                  <a:srgbClr val="6ADE9D"/>
                </a:solidFill>
                <a:latin typeface="Aptos"/>
              </a:rPr>
              <a:t>0</a:t>
            </a:r>
            <a:r>
              <a:rPr lang="en-IN" sz="1000" b="1" i="0" dirty="0">
                <a:solidFill>
                  <a:srgbClr val="6ADE9D"/>
                </a:solidFill>
                <a:latin typeface="Aptos"/>
              </a:rPr>
              <a:t>7</a:t>
            </a:r>
            <a:endParaRPr sz="1000" b="1" i="0" dirty="0">
              <a:solidFill>
                <a:srgbClr val="6ADE9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29815" y="623013"/>
            <a:ext cx="7704994" cy="49859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3000" b="1" i="0" dirty="0">
                <a:solidFill>
                  <a:srgbClr val="F5F8FC"/>
                </a:solidFill>
                <a:latin typeface="Aptos"/>
              </a:rPr>
              <a:t>Healthcare Recommendation &amp; Advisory Engine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21611"/>
            <a:ext cx="11064240" cy="0"/>
          </a:xfrm>
          <a:prstGeom prst="line">
            <a:avLst/>
          </a:prstGeom>
          <a:ln w="10160">
            <a:solidFill>
              <a:srgbClr val="384C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402336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00" b="1" i="0">
                <a:solidFill>
                  <a:srgbClr val="A3B4C9"/>
                </a:solidFill>
                <a:latin typeface="Aptos"/>
              </a:rPr>
              <a:t>MEDASSIST AI  |  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900" b="1" i="0">
                <a:solidFill>
                  <a:srgbClr val="36D2BE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36192"/>
            <a:ext cx="4926926" cy="4678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400" b="0" i="0" dirty="0">
                <a:solidFill>
                  <a:srgbClr val="A3B4C9"/>
                </a:solidFill>
                <a:latin typeface="Aptos"/>
              </a:rPr>
              <a:t>Combines predicted disease, risk level, and patient context to turn </a:t>
            </a:r>
            <a:endParaRPr lang="en-IN" sz="1400" b="0" i="0" dirty="0">
              <a:solidFill>
                <a:srgbClr val="A3B4C9"/>
              </a:solidFill>
              <a:latin typeface="Aptos"/>
            </a:endParaRPr>
          </a:p>
          <a:p>
            <a:pPr algn="l"/>
            <a:r>
              <a:rPr sz="1400" b="0" i="0" dirty="0">
                <a:solidFill>
                  <a:srgbClr val="A3B4C9"/>
                </a:solidFill>
                <a:latin typeface="Aptos"/>
              </a:rPr>
              <a:t>model output into practical healthcare guidance.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148840"/>
            <a:ext cx="1645920" cy="22860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100" b="1" i="0">
                <a:solidFill>
                  <a:srgbClr val="FF9948"/>
                </a:solidFill>
                <a:latin typeface="Aptos"/>
              </a:rPr>
              <a:t>Decision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2542032"/>
            <a:ext cx="4160520" cy="713232"/>
          </a:xfrm>
          <a:prstGeom prst="roundRect">
            <a:avLst/>
          </a:prstGeom>
          <a:solidFill>
            <a:srgbClr val="1B2D49"/>
          </a:solidFill>
          <a:ln w="10160">
            <a:solidFill>
              <a:srgbClr val="38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" y="2542032"/>
            <a:ext cx="100584" cy="713232"/>
          </a:xfrm>
          <a:prstGeom prst="rect">
            <a:avLst/>
          </a:prstGeom>
          <a:solidFill>
            <a:srgbClr val="36D2BE"/>
          </a:solidFill>
          <a:ln w="10160">
            <a:solidFill>
              <a:srgbClr val="3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2670048"/>
            <a:ext cx="356616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300" b="1" i="0">
                <a:solidFill>
                  <a:srgbClr val="F5F8FC"/>
                </a:solidFill>
                <a:latin typeface="Aptos"/>
              </a:rPr>
              <a:t>Disease 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935224"/>
            <a:ext cx="361188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00" b="0" i="0">
                <a:solidFill>
                  <a:srgbClr val="A3B4C9"/>
                </a:solidFill>
                <a:latin typeface="Aptos"/>
              </a:rPr>
              <a:t>Top conditions + probabilities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97480" y="3255263"/>
            <a:ext cx="0" cy="219457"/>
          </a:xfrm>
          <a:prstGeom prst="line">
            <a:avLst/>
          </a:prstGeom>
          <a:ln w="13970">
            <a:solidFill>
              <a:srgbClr val="384C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1792" y="3474720"/>
            <a:ext cx="4160520" cy="713232"/>
          </a:xfrm>
          <a:prstGeom prst="roundRect">
            <a:avLst/>
          </a:prstGeom>
          <a:solidFill>
            <a:srgbClr val="1B2D49"/>
          </a:solidFill>
          <a:ln w="10160">
            <a:solidFill>
              <a:srgbClr val="38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" y="3474720"/>
            <a:ext cx="100584" cy="713232"/>
          </a:xfrm>
          <a:prstGeom prst="rect">
            <a:avLst/>
          </a:prstGeom>
          <a:solidFill>
            <a:srgbClr val="FF9948"/>
          </a:solidFill>
          <a:ln w="10160">
            <a:solidFill>
              <a:srgbClr val="FF9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" y="3602736"/>
            <a:ext cx="356616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300" b="1" i="0">
                <a:solidFill>
                  <a:srgbClr val="F5F8FC"/>
                </a:solidFill>
                <a:latin typeface="Aptos"/>
              </a:rPr>
              <a:t>Risk assessment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3867911"/>
            <a:ext cx="361188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00" b="0" i="0">
                <a:solidFill>
                  <a:srgbClr val="A3B4C9"/>
                </a:solidFill>
                <a:latin typeface="Aptos"/>
              </a:rPr>
              <a:t>Risk level + contributing factors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97480" y="4187952"/>
            <a:ext cx="0" cy="219456"/>
          </a:xfrm>
          <a:prstGeom prst="line">
            <a:avLst/>
          </a:prstGeom>
          <a:ln w="13970">
            <a:solidFill>
              <a:srgbClr val="384C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1792" y="4407408"/>
            <a:ext cx="4160520" cy="713232"/>
          </a:xfrm>
          <a:prstGeom prst="roundRect">
            <a:avLst/>
          </a:prstGeom>
          <a:solidFill>
            <a:srgbClr val="1B2D49"/>
          </a:solidFill>
          <a:ln w="10160">
            <a:solidFill>
              <a:srgbClr val="38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" y="4407408"/>
            <a:ext cx="100584" cy="713232"/>
          </a:xfrm>
          <a:prstGeom prst="rect">
            <a:avLst/>
          </a:prstGeom>
          <a:solidFill>
            <a:srgbClr val="6ADE9D"/>
          </a:solidFill>
          <a:ln w="10160">
            <a:solidFill>
              <a:srgbClr val="6ADE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7824" y="4535424"/>
            <a:ext cx="356616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300" b="1" i="0">
                <a:solidFill>
                  <a:srgbClr val="F5F8FC"/>
                </a:solidFill>
                <a:latin typeface="Aptos"/>
              </a:rPr>
              <a:t>Advisory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4800600"/>
            <a:ext cx="361188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00" b="0" i="0">
                <a:solidFill>
                  <a:srgbClr val="A3B4C9"/>
                </a:solidFill>
                <a:latin typeface="Aptos"/>
              </a:rPr>
              <a:t>Treatment, prevention, lifestyle guidance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737" y="5368909"/>
            <a:ext cx="3506986" cy="34471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000" b="1" i="0" dirty="0">
                <a:solidFill>
                  <a:srgbClr val="36D2BE"/>
                </a:solidFill>
                <a:latin typeface="Aptos"/>
              </a:rPr>
              <a:t>Prediction  →  Risk  →  Guidance</a:t>
            </a:r>
          </a:p>
        </p:txBody>
      </p:sp>
      <p:grpSp>
        <p:nvGrpSpPr>
          <p:cNvPr id="44" name="object 9">
            <a:extLst>
              <a:ext uri="{FF2B5EF4-FFF2-40B4-BE49-F238E27FC236}">
                <a16:creationId xmlns:a16="http://schemas.microsoft.com/office/drawing/2014/main" id="{05B8925C-99C5-49FB-92C3-18BC2B0EA06F}"/>
              </a:ext>
            </a:extLst>
          </p:cNvPr>
          <p:cNvGrpSpPr/>
          <p:nvPr/>
        </p:nvGrpSpPr>
        <p:grpSpPr>
          <a:xfrm>
            <a:off x="332232" y="661297"/>
            <a:ext cx="519144" cy="378190"/>
            <a:chOff x="989581" y="1692471"/>
            <a:chExt cx="845819" cy="845819"/>
          </a:xfrm>
          <a:solidFill>
            <a:schemeClr val="accent6">
              <a:lumMod val="75000"/>
            </a:schemeClr>
          </a:solidFill>
        </p:grpSpPr>
        <p:sp>
          <p:nvSpPr>
            <p:cNvPr id="45" name="object 10">
              <a:extLst>
                <a:ext uri="{FF2B5EF4-FFF2-40B4-BE49-F238E27FC236}">
                  <a16:creationId xmlns:a16="http://schemas.microsoft.com/office/drawing/2014/main" id="{206E2DAF-8454-4EAA-B3E2-072EDEDCF94D}"/>
                </a:ext>
              </a:extLst>
            </p:cNvPr>
            <p:cNvSpPr/>
            <p:nvPr/>
          </p:nvSpPr>
          <p:spPr>
            <a:xfrm>
              <a:off x="989582" y="1692471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11">
              <a:extLst>
                <a:ext uri="{FF2B5EF4-FFF2-40B4-BE49-F238E27FC236}">
                  <a16:creationId xmlns:a16="http://schemas.microsoft.com/office/drawing/2014/main" id="{1A70729D-F103-45D1-B1EC-7C31FCE6CD92}"/>
                </a:ext>
              </a:extLst>
            </p:cNvPr>
            <p:cNvSpPr/>
            <p:nvPr/>
          </p:nvSpPr>
          <p:spPr>
            <a:xfrm>
              <a:off x="1287823" y="1692474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12">
              <a:extLst>
                <a:ext uri="{FF2B5EF4-FFF2-40B4-BE49-F238E27FC236}">
                  <a16:creationId xmlns:a16="http://schemas.microsoft.com/office/drawing/2014/main" id="{3740241D-CF27-47D2-B838-A7FE8EF54B3F}"/>
                </a:ext>
              </a:extLst>
            </p:cNvPr>
            <p:cNvSpPr/>
            <p:nvPr/>
          </p:nvSpPr>
          <p:spPr>
            <a:xfrm>
              <a:off x="989571" y="1843176"/>
              <a:ext cx="845819" cy="695325"/>
            </a:xfrm>
            <a:custGeom>
              <a:avLst/>
              <a:gdLst/>
              <a:ahLst/>
              <a:cxnLst/>
              <a:rect l="l" t="t" r="r" b="b"/>
              <a:pathLst>
                <a:path w="845819" h="695325">
                  <a:moveTo>
                    <a:pt x="845553" y="518782"/>
                  </a:moveTo>
                  <a:lnTo>
                    <a:pt x="839546" y="473151"/>
                  </a:lnTo>
                  <a:lnTo>
                    <a:pt x="821931" y="430618"/>
                  </a:lnTo>
                  <a:lnTo>
                    <a:pt x="793902" y="394106"/>
                  </a:lnTo>
                  <a:lnTo>
                    <a:pt x="399796" y="0"/>
                  </a:lnTo>
                  <a:lnTo>
                    <a:pt x="150710" y="249085"/>
                  </a:lnTo>
                  <a:lnTo>
                    <a:pt x="173685" y="272072"/>
                  </a:lnTo>
                  <a:lnTo>
                    <a:pt x="51650" y="394106"/>
                  </a:lnTo>
                  <a:lnTo>
                    <a:pt x="23622" y="430618"/>
                  </a:lnTo>
                  <a:lnTo>
                    <a:pt x="6007" y="473151"/>
                  </a:lnTo>
                  <a:lnTo>
                    <a:pt x="0" y="518782"/>
                  </a:lnTo>
                  <a:lnTo>
                    <a:pt x="381" y="530326"/>
                  </a:lnTo>
                  <a:lnTo>
                    <a:pt x="9359" y="575475"/>
                  </a:lnTo>
                  <a:lnTo>
                    <a:pt x="29718" y="616750"/>
                  </a:lnTo>
                  <a:lnTo>
                    <a:pt x="59855" y="651141"/>
                  </a:lnTo>
                  <a:lnTo>
                    <a:pt x="98082" y="676656"/>
                  </a:lnTo>
                  <a:lnTo>
                    <a:pt x="141668" y="691451"/>
                  </a:lnTo>
                  <a:lnTo>
                    <a:pt x="176060" y="694842"/>
                  </a:lnTo>
                  <a:lnTo>
                    <a:pt x="187604" y="694461"/>
                  </a:lnTo>
                  <a:lnTo>
                    <a:pt x="232740" y="685482"/>
                  </a:lnTo>
                  <a:lnTo>
                    <a:pt x="274027" y="665124"/>
                  </a:lnTo>
                  <a:lnTo>
                    <a:pt x="422770" y="521157"/>
                  </a:lnTo>
                  <a:lnTo>
                    <a:pt x="544817" y="643191"/>
                  </a:lnTo>
                  <a:lnTo>
                    <a:pt x="581329" y="671220"/>
                  </a:lnTo>
                  <a:lnTo>
                    <a:pt x="623862" y="688835"/>
                  </a:lnTo>
                  <a:lnTo>
                    <a:pt x="669493" y="694842"/>
                  </a:lnTo>
                  <a:lnTo>
                    <a:pt x="681037" y="694474"/>
                  </a:lnTo>
                  <a:lnTo>
                    <a:pt x="726186" y="685482"/>
                  </a:lnTo>
                  <a:lnTo>
                    <a:pt x="767461" y="665124"/>
                  </a:lnTo>
                  <a:lnTo>
                    <a:pt x="801852" y="634987"/>
                  </a:lnTo>
                  <a:lnTo>
                    <a:pt x="827366" y="596773"/>
                  </a:lnTo>
                  <a:lnTo>
                    <a:pt x="842162" y="553186"/>
                  </a:lnTo>
                  <a:lnTo>
                    <a:pt x="845172" y="530326"/>
                  </a:lnTo>
                  <a:lnTo>
                    <a:pt x="845553" y="518782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8" name="Picture 47">
            <a:extLst>
              <a:ext uri="{FF2B5EF4-FFF2-40B4-BE49-F238E27FC236}">
                <a16:creationId xmlns:a16="http://schemas.microsoft.com/office/drawing/2014/main" id="{78A9FE6E-62A5-4FC1-AFC7-DF5DD5779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725" y="1182908"/>
            <a:ext cx="5566244" cy="2725957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6BD80438-8543-41B7-BE18-248B8FF5E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724" y="3980527"/>
            <a:ext cx="5566243" cy="27435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63182" y="604778"/>
            <a:ext cx="4325479" cy="49859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3000" b="1" i="0" dirty="0">
                <a:solidFill>
                  <a:srgbClr val="F5F8FC"/>
                </a:solidFill>
                <a:latin typeface="Aptos"/>
              </a:rPr>
              <a:t>Disease Prediction Reports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31270"/>
            <a:ext cx="11064240" cy="0"/>
          </a:xfrm>
          <a:prstGeom prst="line">
            <a:avLst/>
          </a:prstGeom>
          <a:ln w="10160">
            <a:solidFill>
              <a:srgbClr val="384C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402336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00" b="1" i="0">
                <a:solidFill>
                  <a:srgbClr val="A3B4C9"/>
                </a:solidFill>
                <a:latin typeface="Aptos"/>
              </a:rPr>
              <a:t>MEDASSIST AI  |  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900" b="1" i="0">
                <a:solidFill>
                  <a:srgbClr val="36D2BE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36192"/>
            <a:ext cx="8046720" cy="38404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400" b="0" i="0">
                <a:solidFill>
                  <a:srgbClr val="A3B4C9"/>
                </a:solidFill>
                <a:latin typeface="Aptos"/>
              </a:rPr>
              <a:t>Converts the assessment into a structured, shareable report that can be viewed in the application and downloaded as a PDF.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139696"/>
            <a:ext cx="1828800" cy="22860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100" b="1" i="0">
                <a:solidFill>
                  <a:srgbClr val="FF9948"/>
                </a:solidFill>
                <a:latin typeface="Aptos"/>
              </a:rPr>
              <a:t>Report contents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2578608"/>
            <a:ext cx="109728" cy="109728"/>
          </a:xfrm>
          <a:prstGeom prst="roundRect">
            <a:avLst/>
          </a:prstGeom>
          <a:solidFill>
            <a:srgbClr val="36D2BE"/>
          </a:solidFill>
          <a:ln w="10160">
            <a:solidFill>
              <a:srgbClr val="3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2542032"/>
            <a:ext cx="3886200" cy="22860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100" b="0" i="0">
                <a:solidFill>
                  <a:srgbClr val="F5F8FC"/>
                </a:solidFill>
                <a:latin typeface="Aptos"/>
              </a:rPr>
              <a:t>Patient information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2947416"/>
            <a:ext cx="109728" cy="109728"/>
          </a:xfrm>
          <a:prstGeom prst="roundRect">
            <a:avLst/>
          </a:prstGeom>
          <a:solidFill>
            <a:srgbClr val="36D2BE"/>
          </a:solidFill>
          <a:ln w="10160">
            <a:solidFill>
              <a:srgbClr val="3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2910840"/>
            <a:ext cx="3886200" cy="22860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F5F8FC"/>
                </a:solidFill>
                <a:latin typeface="Aptos"/>
              </a:rPr>
              <a:t>Symptoms considered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3316224"/>
            <a:ext cx="109728" cy="109728"/>
          </a:xfrm>
          <a:prstGeom prst="roundRect">
            <a:avLst/>
          </a:prstGeom>
          <a:solidFill>
            <a:srgbClr val="36D2BE"/>
          </a:solidFill>
          <a:ln w="10160">
            <a:solidFill>
              <a:srgbClr val="3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" y="3279648"/>
            <a:ext cx="3886200" cy="22860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F5F8FC"/>
                </a:solidFill>
                <a:latin typeface="Aptos"/>
              </a:rPr>
              <a:t>Predicted disease and probabilities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685031"/>
            <a:ext cx="109728" cy="109728"/>
          </a:xfrm>
          <a:prstGeom prst="roundRect">
            <a:avLst/>
          </a:prstGeom>
          <a:solidFill>
            <a:srgbClr val="36D2BE"/>
          </a:solidFill>
          <a:ln w="10160">
            <a:solidFill>
              <a:srgbClr val="3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" y="3648455"/>
            <a:ext cx="3886200" cy="22860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F5F8FC"/>
                </a:solidFill>
                <a:latin typeface="Aptos"/>
              </a:rPr>
              <a:t>Risk assessment result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053840"/>
            <a:ext cx="109728" cy="109728"/>
          </a:xfrm>
          <a:prstGeom prst="roundRect">
            <a:avLst/>
          </a:prstGeom>
          <a:solidFill>
            <a:srgbClr val="36D2BE"/>
          </a:solidFill>
          <a:ln w="10160">
            <a:solidFill>
              <a:srgbClr val="3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536" y="4017264"/>
            <a:ext cx="3886200" cy="22860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F5F8FC"/>
                </a:solidFill>
                <a:latin typeface="Aptos"/>
              </a:rPr>
              <a:t>Recommendations and advisory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4422647"/>
            <a:ext cx="109728" cy="109728"/>
          </a:xfrm>
          <a:prstGeom prst="roundRect">
            <a:avLst/>
          </a:prstGeom>
          <a:solidFill>
            <a:srgbClr val="36D2BE"/>
          </a:solidFill>
          <a:ln w="10160">
            <a:solidFill>
              <a:srgbClr val="3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" y="4386071"/>
            <a:ext cx="3886200" cy="22860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F5F8FC"/>
                </a:solidFill>
                <a:latin typeface="Aptos"/>
              </a:rPr>
              <a:t>Generation date and record details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0" y="2057400"/>
            <a:ext cx="5364480" cy="3584448"/>
          </a:xfrm>
          <a:prstGeom prst="roundRect">
            <a:avLst/>
          </a:prstGeom>
          <a:solidFill>
            <a:srgbClr val="1B2D49"/>
          </a:solidFill>
          <a:ln w="10160">
            <a:solidFill>
              <a:srgbClr val="38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680456" y="2464308"/>
            <a:ext cx="2112264" cy="2532887"/>
          </a:xfrm>
          <a:prstGeom prst="rect">
            <a:avLst/>
          </a:prstGeom>
          <a:solidFill>
            <a:srgbClr val="F5F8FC"/>
          </a:solidFill>
          <a:ln w="1016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52160" y="2590800"/>
            <a:ext cx="155448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00" b="1" i="0" dirty="0">
                <a:solidFill>
                  <a:srgbClr val="0A1324"/>
                </a:solidFill>
                <a:latin typeface="Aptos"/>
              </a:rPr>
              <a:t>MEDASSIST AI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852160" y="2798064"/>
            <a:ext cx="1783080" cy="0"/>
          </a:xfrm>
          <a:prstGeom prst="line">
            <a:avLst/>
          </a:prstGeom>
          <a:ln w="19050">
            <a:solidFill>
              <a:srgbClr val="36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852160" y="2990088"/>
            <a:ext cx="1645920" cy="53035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500" b="1" i="0">
                <a:solidFill>
                  <a:srgbClr val="0A1324"/>
                </a:solidFill>
                <a:latin typeface="Aptos"/>
              </a:rPr>
              <a:t>Disease Prediction
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3767328"/>
            <a:ext cx="1013996" cy="28315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00" b="0" i="0" dirty="0">
                <a:solidFill>
                  <a:srgbClr val="4B5B6F"/>
                </a:solidFill>
                <a:latin typeface="Aptos"/>
              </a:rPr>
              <a:t>Patient: </a:t>
            </a:r>
            <a:r>
              <a:rPr lang="en-IN" sz="800" dirty="0">
                <a:solidFill>
                  <a:srgbClr val="4B5B6F"/>
                </a:solidFill>
                <a:latin typeface="Aptos"/>
              </a:rPr>
              <a:t>Virat Kohli</a:t>
            </a:r>
            <a:r>
              <a:rPr sz="800" b="0" i="0" dirty="0">
                <a:solidFill>
                  <a:srgbClr val="4B5B6F"/>
                </a:solidFill>
                <a:latin typeface="Aptos"/>
              </a:rPr>
              <a:t>
Generated: </a:t>
            </a:r>
            <a:r>
              <a:rPr lang="en-IN" sz="800" dirty="0">
                <a:solidFill>
                  <a:srgbClr val="4B5B6F"/>
                </a:solidFill>
                <a:latin typeface="Aptos"/>
              </a:rPr>
              <a:t>23 Jul</a:t>
            </a:r>
            <a:r>
              <a:rPr sz="800" b="0" i="0" dirty="0">
                <a:solidFill>
                  <a:srgbClr val="4B5B6F"/>
                </a:solidFill>
                <a:latin typeface="Aptos"/>
              </a:rPr>
              <a:t> 2026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52160" y="4343400"/>
            <a:ext cx="1691640" cy="512064"/>
          </a:xfrm>
          <a:prstGeom prst="roundRect">
            <a:avLst/>
          </a:prstGeom>
          <a:solidFill>
            <a:srgbClr val="E0F8F3"/>
          </a:solidFill>
          <a:ln w="10160">
            <a:solidFill>
              <a:srgbClr val="E0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35780" y="4507992"/>
            <a:ext cx="896977" cy="175433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lang="en-IN" sz="900" b="1" dirty="0">
                <a:solidFill>
                  <a:srgbClr val="0A1324"/>
                </a:solidFill>
                <a:latin typeface="Aptos"/>
              </a:rPr>
              <a:t>Bronchial asthma</a:t>
            </a:r>
            <a:endParaRPr sz="900" b="1" i="0" dirty="0">
              <a:solidFill>
                <a:srgbClr val="0A1324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11312" y="2487168"/>
            <a:ext cx="201168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100" b="1" i="0">
                <a:solidFill>
                  <a:srgbClr val="36D2BE"/>
                </a:solidFill>
                <a:latin typeface="Aptos"/>
              </a:rPr>
              <a:t>Prediction summary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1312" y="2907792"/>
            <a:ext cx="141732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00" b="0" i="0">
                <a:solidFill>
                  <a:srgbClr val="A3B4C9"/>
                </a:solidFill>
                <a:latin typeface="Aptos"/>
              </a:rPr>
              <a:t>Predicted disease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12384" y="2889504"/>
            <a:ext cx="1074911" cy="20621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lang="en-IN" sz="1100" b="1" dirty="0">
                <a:solidFill>
                  <a:schemeClr val="bg1"/>
                </a:solidFill>
                <a:latin typeface="Aptos"/>
              </a:rPr>
              <a:t>Bronchial asthma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211312" y="3200400"/>
            <a:ext cx="2377440" cy="0"/>
          </a:xfrm>
          <a:prstGeom prst="line">
            <a:avLst/>
          </a:prstGeom>
          <a:ln w="8890">
            <a:solidFill>
              <a:srgbClr val="384C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211312" y="3438144"/>
            <a:ext cx="141732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00" b="0" i="0">
                <a:solidFill>
                  <a:srgbClr val="A3B4C9"/>
                </a:solidFill>
                <a:latin typeface="Aptos"/>
              </a:rPr>
              <a:t>Confidence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3419856"/>
            <a:ext cx="91440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1100" b="1" i="0">
                <a:solidFill>
                  <a:srgbClr val="36D2BE"/>
                </a:solidFill>
                <a:latin typeface="Aptos"/>
              </a:rPr>
              <a:t>86%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211312" y="3730752"/>
            <a:ext cx="2377440" cy="0"/>
          </a:xfrm>
          <a:prstGeom prst="line">
            <a:avLst/>
          </a:prstGeom>
          <a:ln w="8890">
            <a:solidFill>
              <a:srgbClr val="384C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211312" y="3968496"/>
            <a:ext cx="141732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00" b="0" i="0">
                <a:solidFill>
                  <a:srgbClr val="A3B4C9"/>
                </a:solidFill>
                <a:latin typeface="Aptos"/>
              </a:rPr>
              <a:t>Risk level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3950208"/>
            <a:ext cx="91440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1100" b="1" i="0">
                <a:solidFill>
                  <a:srgbClr val="FF9948"/>
                </a:solidFill>
                <a:latin typeface="Aptos"/>
              </a:rPr>
              <a:t>Moderate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211312" y="4261104"/>
            <a:ext cx="2377440" cy="0"/>
          </a:xfrm>
          <a:prstGeom prst="line">
            <a:avLst/>
          </a:prstGeom>
          <a:ln w="8890">
            <a:solidFill>
              <a:srgbClr val="384C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211312" y="4498848"/>
            <a:ext cx="141732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00" b="0" i="0">
                <a:solidFill>
                  <a:srgbClr val="A3B4C9"/>
                </a:solidFill>
                <a:latin typeface="Aptos"/>
              </a:rPr>
              <a:t>Recommendations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4480560"/>
            <a:ext cx="91440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1100" b="1" i="0">
                <a:solidFill>
                  <a:srgbClr val="6ADE9D"/>
                </a:solidFill>
                <a:latin typeface="Aptos"/>
              </a:rPr>
              <a:t>Included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11312" y="4791456"/>
            <a:ext cx="2377440" cy="0"/>
          </a:xfrm>
          <a:prstGeom prst="line">
            <a:avLst/>
          </a:prstGeom>
          <a:ln w="8890">
            <a:solidFill>
              <a:srgbClr val="384C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494776" y="4935751"/>
            <a:ext cx="1868424" cy="347472"/>
          </a:xfrm>
          <a:prstGeom prst="roundRect">
            <a:avLst/>
          </a:prstGeom>
          <a:solidFill>
            <a:srgbClr val="FF9948"/>
          </a:solidFill>
          <a:ln w="10160">
            <a:solidFill>
              <a:srgbClr val="FF9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729054" y="5021555"/>
            <a:ext cx="1360245" cy="190821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1000" b="1" i="0" dirty="0">
                <a:solidFill>
                  <a:srgbClr val="0A1324"/>
                </a:solidFill>
                <a:latin typeface="Aptos"/>
              </a:rPr>
              <a:t>VIEW / DOWNLOAD PDF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6565" y="5129784"/>
            <a:ext cx="4739503" cy="26776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500" b="0" i="1" dirty="0">
                <a:solidFill>
                  <a:srgbClr val="36D2BE"/>
                </a:solidFill>
                <a:latin typeface="Aptos"/>
              </a:rPr>
              <a:t>Usable output for patients, caretakers, and academic review</a:t>
            </a:r>
          </a:p>
        </p:txBody>
      </p:sp>
      <p:grpSp>
        <p:nvGrpSpPr>
          <p:cNvPr id="45" name="object 9">
            <a:extLst>
              <a:ext uri="{FF2B5EF4-FFF2-40B4-BE49-F238E27FC236}">
                <a16:creationId xmlns:a16="http://schemas.microsoft.com/office/drawing/2014/main" id="{0087AF75-595C-4F4F-B479-9189A49B8C59}"/>
              </a:ext>
            </a:extLst>
          </p:cNvPr>
          <p:cNvGrpSpPr/>
          <p:nvPr/>
        </p:nvGrpSpPr>
        <p:grpSpPr>
          <a:xfrm>
            <a:off x="332232" y="661297"/>
            <a:ext cx="519144" cy="378190"/>
            <a:chOff x="989581" y="1692471"/>
            <a:chExt cx="845819" cy="845819"/>
          </a:xfrm>
          <a:solidFill>
            <a:schemeClr val="accent6">
              <a:lumMod val="75000"/>
            </a:schemeClr>
          </a:solidFill>
        </p:grpSpPr>
        <p:sp>
          <p:nvSpPr>
            <p:cNvPr id="46" name="object 10">
              <a:extLst>
                <a:ext uri="{FF2B5EF4-FFF2-40B4-BE49-F238E27FC236}">
                  <a16:creationId xmlns:a16="http://schemas.microsoft.com/office/drawing/2014/main" id="{93CA0FA5-0233-461C-AFF6-6146A53E95F6}"/>
                </a:ext>
              </a:extLst>
            </p:cNvPr>
            <p:cNvSpPr/>
            <p:nvPr/>
          </p:nvSpPr>
          <p:spPr>
            <a:xfrm>
              <a:off x="989582" y="1692471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11">
              <a:extLst>
                <a:ext uri="{FF2B5EF4-FFF2-40B4-BE49-F238E27FC236}">
                  <a16:creationId xmlns:a16="http://schemas.microsoft.com/office/drawing/2014/main" id="{EF33B1D4-2987-430A-9D04-8E7122EB603C}"/>
                </a:ext>
              </a:extLst>
            </p:cNvPr>
            <p:cNvSpPr/>
            <p:nvPr/>
          </p:nvSpPr>
          <p:spPr>
            <a:xfrm>
              <a:off x="1287823" y="1692474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12">
              <a:extLst>
                <a:ext uri="{FF2B5EF4-FFF2-40B4-BE49-F238E27FC236}">
                  <a16:creationId xmlns:a16="http://schemas.microsoft.com/office/drawing/2014/main" id="{C713583F-5836-4CDF-BFC2-B849F3CE89A9}"/>
                </a:ext>
              </a:extLst>
            </p:cNvPr>
            <p:cNvSpPr/>
            <p:nvPr/>
          </p:nvSpPr>
          <p:spPr>
            <a:xfrm>
              <a:off x="989571" y="1843176"/>
              <a:ext cx="845819" cy="695325"/>
            </a:xfrm>
            <a:custGeom>
              <a:avLst/>
              <a:gdLst/>
              <a:ahLst/>
              <a:cxnLst/>
              <a:rect l="l" t="t" r="r" b="b"/>
              <a:pathLst>
                <a:path w="845819" h="695325">
                  <a:moveTo>
                    <a:pt x="845553" y="518782"/>
                  </a:moveTo>
                  <a:lnTo>
                    <a:pt x="839546" y="473151"/>
                  </a:lnTo>
                  <a:lnTo>
                    <a:pt x="821931" y="430618"/>
                  </a:lnTo>
                  <a:lnTo>
                    <a:pt x="793902" y="394106"/>
                  </a:lnTo>
                  <a:lnTo>
                    <a:pt x="399796" y="0"/>
                  </a:lnTo>
                  <a:lnTo>
                    <a:pt x="150710" y="249085"/>
                  </a:lnTo>
                  <a:lnTo>
                    <a:pt x="173685" y="272072"/>
                  </a:lnTo>
                  <a:lnTo>
                    <a:pt x="51650" y="394106"/>
                  </a:lnTo>
                  <a:lnTo>
                    <a:pt x="23622" y="430618"/>
                  </a:lnTo>
                  <a:lnTo>
                    <a:pt x="6007" y="473151"/>
                  </a:lnTo>
                  <a:lnTo>
                    <a:pt x="0" y="518782"/>
                  </a:lnTo>
                  <a:lnTo>
                    <a:pt x="381" y="530326"/>
                  </a:lnTo>
                  <a:lnTo>
                    <a:pt x="9359" y="575475"/>
                  </a:lnTo>
                  <a:lnTo>
                    <a:pt x="29718" y="616750"/>
                  </a:lnTo>
                  <a:lnTo>
                    <a:pt x="59855" y="651141"/>
                  </a:lnTo>
                  <a:lnTo>
                    <a:pt x="98082" y="676656"/>
                  </a:lnTo>
                  <a:lnTo>
                    <a:pt x="141668" y="691451"/>
                  </a:lnTo>
                  <a:lnTo>
                    <a:pt x="176060" y="694842"/>
                  </a:lnTo>
                  <a:lnTo>
                    <a:pt x="187604" y="694461"/>
                  </a:lnTo>
                  <a:lnTo>
                    <a:pt x="232740" y="685482"/>
                  </a:lnTo>
                  <a:lnTo>
                    <a:pt x="274027" y="665124"/>
                  </a:lnTo>
                  <a:lnTo>
                    <a:pt x="422770" y="521157"/>
                  </a:lnTo>
                  <a:lnTo>
                    <a:pt x="544817" y="643191"/>
                  </a:lnTo>
                  <a:lnTo>
                    <a:pt x="581329" y="671220"/>
                  </a:lnTo>
                  <a:lnTo>
                    <a:pt x="623862" y="688835"/>
                  </a:lnTo>
                  <a:lnTo>
                    <a:pt x="669493" y="694842"/>
                  </a:lnTo>
                  <a:lnTo>
                    <a:pt x="681037" y="694474"/>
                  </a:lnTo>
                  <a:lnTo>
                    <a:pt x="726186" y="685482"/>
                  </a:lnTo>
                  <a:lnTo>
                    <a:pt x="767461" y="665124"/>
                  </a:lnTo>
                  <a:lnTo>
                    <a:pt x="801852" y="634987"/>
                  </a:lnTo>
                  <a:lnTo>
                    <a:pt x="827366" y="596773"/>
                  </a:lnTo>
                  <a:lnTo>
                    <a:pt x="842162" y="553186"/>
                  </a:lnTo>
                  <a:lnTo>
                    <a:pt x="845172" y="530326"/>
                  </a:lnTo>
                  <a:lnTo>
                    <a:pt x="845553" y="518782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1832" y="612647"/>
            <a:ext cx="7798160" cy="49859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3000" b="1" i="0" dirty="0">
                <a:solidFill>
                  <a:srgbClr val="F5F8FC"/>
                </a:solidFill>
                <a:latin typeface="Aptos"/>
              </a:rPr>
              <a:t>Healthcare Analytics Dashboard &amp; Health Trends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1798" y="1111245"/>
            <a:ext cx="11064240" cy="0"/>
          </a:xfrm>
          <a:prstGeom prst="line">
            <a:avLst/>
          </a:prstGeom>
          <a:ln w="10160">
            <a:solidFill>
              <a:srgbClr val="384C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402336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00" b="1" i="0">
                <a:solidFill>
                  <a:srgbClr val="A3B4C9"/>
                </a:solidFill>
                <a:latin typeface="Aptos"/>
              </a:rPr>
              <a:t>MEDASSIST AI  |  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900" b="1" i="0">
                <a:solidFill>
                  <a:srgbClr val="36D2BE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87316"/>
            <a:ext cx="4937890" cy="4678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400" b="0" i="0" dirty="0">
                <a:solidFill>
                  <a:srgbClr val="A3B4C9"/>
                </a:solidFill>
                <a:latin typeface="Aptos"/>
              </a:rPr>
              <a:t>Aggregates patient records into a monitoring view for disease </a:t>
            </a:r>
            <a:endParaRPr lang="en-IN" sz="1400" b="0" i="0" dirty="0">
              <a:solidFill>
                <a:srgbClr val="A3B4C9"/>
              </a:solidFill>
              <a:latin typeface="Aptos"/>
            </a:endParaRPr>
          </a:p>
          <a:p>
            <a:pPr algn="l"/>
            <a:r>
              <a:rPr sz="1400" b="0" i="0" dirty="0">
                <a:solidFill>
                  <a:srgbClr val="A3B4C9"/>
                </a:solidFill>
                <a:latin typeface="Aptos"/>
              </a:rPr>
              <a:t>distribution, risk patterns, symptom activity, and change over time.</a:t>
            </a:r>
          </a:p>
        </p:txBody>
      </p:sp>
      <p:grpSp>
        <p:nvGrpSpPr>
          <p:cNvPr id="60" name="object 9">
            <a:extLst>
              <a:ext uri="{FF2B5EF4-FFF2-40B4-BE49-F238E27FC236}">
                <a16:creationId xmlns:a16="http://schemas.microsoft.com/office/drawing/2014/main" id="{5F085AA0-4E90-49A7-BE31-3AC3ECCA1245}"/>
              </a:ext>
            </a:extLst>
          </p:cNvPr>
          <p:cNvGrpSpPr/>
          <p:nvPr/>
        </p:nvGrpSpPr>
        <p:grpSpPr>
          <a:xfrm>
            <a:off x="332232" y="661297"/>
            <a:ext cx="519144" cy="378190"/>
            <a:chOff x="989581" y="1692471"/>
            <a:chExt cx="845819" cy="845819"/>
          </a:xfrm>
          <a:solidFill>
            <a:schemeClr val="accent6">
              <a:lumMod val="75000"/>
            </a:schemeClr>
          </a:solidFill>
        </p:grpSpPr>
        <p:sp>
          <p:nvSpPr>
            <p:cNvPr id="61" name="object 10">
              <a:extLst>
                <a:ext uri="{FF2B5EF4-FFF2-40B4-BE49-F238E27FC236}">
                  <a16:creationId xmlns:a16="http://schemas.microsoft.com/office/drawing/2014/main" id="{7F22FC66-79D4-4286-847D-C8F5C34F86BE}"/>
                </a:ext>
              </a:extLst>
            </p:cNvPr>
            <p:cNvSpPr/>
            <p:nvPr/>
          </p:nvSpPr>
          <p:spPr>
            <a:xfrm>
              <a:off x="989582" y="1692471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11">
              <a:extLst>
                <a:ext uri="{FF2B5EF4-FFF2-40B4-BE49-F238E27FC236}">
                  <a16:creationId xmlns:a16="http://schemas.microsoft.com/office/drawing/2014/main" id="{67A59F81-C7CA-4D40-943A-FA0DF3F87B22}"/>
                </a:ext>
              </a:extLst>
            </p:cNvPr>
            <p:cNvSpPr/>
            <p:nvPr/>
          </p:nvSpPr>
          <p:spPr>
            <a:xfrm>
              <a:off x="1287823" y="1692474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12">
              <a:extLst>
                <a:ext uri="{FF2B5EF4-FFF2-40B4-BE49-F238E27FC236}">
                  <a16:creationId xmlns:a16="http://schemas.microsoft.com/office/drawing/2014/main" id="{762FE3DF-ED74-4B92-943E-768C7E2913B9}"/>
                </a:ext>
              </a:extLst>
            </p:cNvPr>
            <p:cNvSpPr/>
            <p:nvPr/>
          </p:nvSpPr>
          <p:spPr>
            <a:xfrm>
              <a:off x="989571" y="1843176"/>
              <a:ext cx="845819" cy="695325"/>
            </a:xfrm>
            <a:custGeom>
              <a:avLst/>
              <a:gdLst/>
              <a:ahLst/>
              <a:cxnLst/>
              <a:rect l="l" t="t" r="r" b="b"/>
              <a:pathLst>
                <a:path w="845819" h="695325">
                  <a:moveTo>
                    <a:pt x="845553" y="518782"/>
                  </a:moveTo>
                  <a:lnTo>
                    <a:pt x="839546" y="473151"/>
                  </a:lnTo>
                  <a:lnTo>
                    <a:pt x="821931" y="430618"/>
                  </a:lnTo>
                  <a:lnTo>
                    <a:pt x="793902" y="394106"/>
                  </a:lnTo>
                  <a:lnTo>
                    <a:pt x="399796" y="0"/>
                  </a:lnTo>
                  <a:lnTo>
                    <a:pt x="150710" y="249085"/>
                  </a:lnTo>
                  <a:lnTo>
                    <a:pt x="173685" y="272072"/>
                  </a:lnTo>
                  <a:lnTo>
                    <a:pt x="51650" y="394106"/>
                  </a:lnTo>
                  <a:lnTo>
                    <a:pt x="23622" y="430618"/>
                  </a:lnTo>
                  <a:lnTo>
                    <a:pt x="6007" y="473151"/>
                  </a:lnTo>
                  <a:lnTo>
                    <a:pt x="0" y="518782"/>
                  </a:lnTo>
                  <a:lnTo>
                    <a:pt x="381" y="530326"/>
                  </a:lnTo>
                  <a:lnTo>
                    <a:pt x="9359" y="575475"/>
                  </a:lnTo>
                  <a:lnTo>
                    <a:pt x="29718" y="616750"/>
                  </a:lnTo>
                  <a:lnTo>
                    <a:pt x="59855" y="651141"/>
                  </a:lnTo>
                  <a:lnTo>
                    <a:pt x="98082" y="676656"/>
                  </a:lnTo>
                  <a:lnTo>
                    <a:pt x="141668" y="691451"/>
                  </a:lnTo>
                  <a:lnTo>
                    <a:pt x="176060" y="694842"/>
                  </a:lnTo>
                  <a:lnTo>
                    <a:pt x="187604" y="694461"/>
                  </a:lnTo>
                  <a:lnTo>
                    <a:pt x="232740" y="685482"/>
                  </a:lnTo>
                  <a:lnTo>
                    <a:pt x="274027" y="665124"/>
                  </a:lnTo>
                  <a:lnTo>
                    <a:pt x="422770" y="521157"/>
                  </a:lnTo>
                  <a:lnTo>
                    <a:pt x="544817" y="643191"/>
                  </a:lnTo>
                  <a:lnTo>
                    <a:pt x="581329" y="671220"/>
                  </a:lnTo>
                  <a:lnTo>
                    <a:pt x="623862" y="688835"/>
                  </a:lnTo>
                  <a:lnTo>
                    <a:pt x="669493" y="694842"/>
                  </a:lnTo>
                  <a:lnTo>
                    <a:pt x="681037" y="694474"/>
                  </a:lnTo>
                  <a:lnTo>
                    <a:pt x="726186" y="685482"/>
                  </a:lnTo>
                  <a:lnTo>
                    <a:pt x="767461" y="665124"/>
                  </a:lnTo>
                  <a:lnTo>
                    <a:pt x="801852" y="634987"/>
                  </a:lnTo>
                  <a:lnTo>
                    <a:pt x="827366" y="596773"/>
                  </a:lnTo>
                  <a:lnTo>
                    <a:pt x="842162" y="553186"/>
                  </a:lnTo>
                  <a:lnTo>
                    <a:pt x="845172" y="530326"/>
                  </a:lnTo>
                  <a:lnTo>
                    <a:pt x="845553" y="518782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6" name="Picture 65">
            <a:extLst>
              <a:ext uri="{FF2B5EF4-FFF2-40B4-BE49-F238E27FC236}">
                <a16:creationId xmlns:a16="http://schemas.microsoft.com/office/drawing/2014/main" id="{F27C0218-EC18-4337-9BF7-B3EBC7ECD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682" y="1272001"/>
            <a:ext cx="6485182" cy="2209992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FAB1296E-04B8-437F-A270-015829B79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682" y="3642748"/>
            <a:ext cx="6396263" cy="3051707"/>
          </a:xfrm>
          <a:prstGeom prst="rect">
            <a:avLst/>
          </a:prstGeom>
        </p:spPr>
      </p:pic>
      <p:sp>
        <p:nvSpPr>
          <p:cNvPr id="69" name="Rounded Rectangle 5">
            <a:extLst>
              <a:ext uri="{FF2B5EF4-FFF2-40B4-BE49-F238E27FC236}">
                <a16:creationId xmlns:a16="http://schemas.microsoft.com/office/drawing/2014/main" id="{3AD940FB-7BED-46BF-9FB5-3E92C56E9069}"/>
              </a:ext>
            </a:extLst>
          </p:cNvPr>
          <p:cNvSpPr/>
          <p:nvPr/>
        </p:nvSpPr>
        <p:spPr>
          <a:xfrm>
            <a:off x="591798" y="3410483"/>
            <a:ext cx="1653705" cy="1443506"/>
          </a:xfrm>
          <a:prstGeom prst="roundRect">
            <a:avLst/>
          </a:prstGeom>
          <a:solidFill>
            <a:srgbClr val="36D2BE"/>
          </a:solidFill>
          <a:ln w="10160">
            <a:solidFill>
              <a:srgbClr val="3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u="sng" dirty="0">
                <a:solidFill>
                  <a:schemeClr val="tx1"/>
                </a:solidFill>
              </a:rPr>
              <a:t>Dashboard metrics</a:t>
            </a:r>
          </a:p>
          <a:p>
            <a:pPr algn="ctr"/>
            <a:r>
              <a:rPr lang="en-US" sz="1100" b="1" dirty="0">
                <a:solidFill>
                  <a:schemeClr val="tx1"/>
                </a:solidFill>
              </a:rPr>
              <a:t>Total Patients</a:t>
            </a:r>
          </a:p>
          <a:p>
            <a:pPr algn="ctr"/>
            <a:r>
              <a:rPr lang="en-US" sz="1100" b="1" dirty="0">
                <a:solidFill>
                  <a:schemeClr val="tx1"/>
                </a:solidFill>
              </a:rPr>
              <a:t>Total Symptoms</a:t>
            </a:r>
          </a:p>
          <a:p>
            <a:pPr algn="ctr"/>
            <a:r>
              <a:rPr lang="en-US" sz="1100" b="1" dirty="0">
                <a:solidFill>
                  <a:schemeClr val="tx1"/>
                </a:solidFill>
              </a:rPr>
              <a:t>Total Predictions</a:t>
            </a:r>
          </a:p>
          <a:p>
            <a:pPr algn="ctr"/>
            <a:r>
              <a:rPr lang="en-US" sz="1100" b="1" dirty="0">
                <a:solidFill>
                  <a:schemeClr val="tx1"/>
                </a:solidFill>
              </a:rPr>
              <a:t>High-Risk Cases</a:t>
            </a:r>
            <a:endParaRPr sz="1100" b="1" dirty="0">
              <a:solidFill>
                <a:schemeClr val="tx1"/>
              </a:solidFill>
            </a:endParaRPr>
          </a:p>
        </p:txBody>
      </p:sp>
      <p:sp>
        <p:nvSpPr>
          <p:cNvPr id="70" name="Rounded Rectangle 7">
            <a:extLst>
              <a:ext uri="{FF2B5EF4-FFF2-40B4-BE49-F238E27FC236}">
                <a16:creationId xmlns:a16="http://schemas.microsoft.com/office/drawing/2014/main" id="{B76BF04E-915A-4852-8884-38EC3F33F37F}"/>
              </a:ext>
            </a:extLst>
          </p:cNvPr>
          <p:cNvSpPr/>
          <p:nvPr/>
        </p:nvSpPr>
        <p:spPr>
          <a:xfrm>
            <a:off x="2578608" y="4673330"/>
            <a:ext cx="1719072" cy="1443506"/>
          </a:xfrm>
          <a:prstGeom prst="roundRect">
            <a:avLst/>
          </a:prstGeom>
          <a:solidFill>
            <a:srgbClr val="FF9948"/>
          </a:solidFill>
          <a:ln w="10160">
            <a:solidFill>
              <a:srgbClr val="FF9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b="1" u="sng" dirty="0">
                <a:solidFill>
                  <a:schemeClr val="tx1"/>
                </a:solidFill>
              </a:rPr>
              <a:t>Analytics</a:t>
            </a:r>
          </a:p>
          <a:p>
            <a:pPr algn="ctr"/>
            <a:r>
              <a:rPr lang="en-IN" sz="1100" b="1" dirty="0">
                <a:solidFill>
                  <a:schemeClr val="tx1"/>
                </a:solidFill>
              </a:rPr>
              <a:t>Disease Distribution</a:t>
            </a:r>
          </a:p>
          <a:p>
            <a:pPr algn="ctr"/>
            <a:r>
              <a:rPr lang="en-IN" sz="1100" b="1" dirty="0">
                <a:solidFill>
                  <a:schemeClr val="tx1"/>
                </a:solidFill>
              </a:rPr>
              <a:t>Risk Distribution</a:t>
            </a:r>
          </a:p>
          <a:p>
            <a:pPr algn="ctr"/>
            <a:r>
              <a:rPr lang="en-IN" sz="1100" b="1" dirty="0">
                <a:solidFill>
                  <a:schemeClr val="tx1"/>
                </a:solidFill>
              </a:rPr>
              <a:t>Symptom Statistics</a:t>
            </a:r>
          </a:p>
          <a:p>
            <a:pPr algn="ctr"/>
            <a:r>
              <a:rPr lang="en-IN" sz="1100" b="1" dirty="0">
                <a:solidFill>
                  <a:schemeClr val="tx1"/>
                </a:solidFill>
              </a:rPr>
              <a:t>Prediction Probabilities</a:t>
            </a:r>
            <a:endParaRPr sz="11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0">
            <a:extLst>
              <a:ext uri="{FF2B5EF4-FFF2-40B4-BE49-F238E27FC236}">
                <a16:creationId xmlns:a16="http://schemas.microsoft.com/office/drawing/2014/main" id="{68173E98-4DD5-4C88-B945-CB7621BFD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223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2073</TotalTime>
  <Words>308</Words>
  <Application>Microsoft Office PowerPoint</Application>
  <PresentationFormat>Widescreen</PresentationFormat>
  <Paragraphs>90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Arial MT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20A91A0524</cp:lastModifiedBy>
  <cp:revision>6</cp:revision>
  <dcterms:created xsi:type="dcterms:W3CDTF">2013-01-27T09:14:16Z</dcterms:created>
  <dcterms:modified xsi:type="dcterms:W3CDTF">2026-08-29T02:26:53Z</dcterms:modified>
  <cp:category/>
</cp:coreProperties>
</file>